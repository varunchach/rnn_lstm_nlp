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20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NLP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Visual Guide — Every Concept, One Slide at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36576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6366F1">
              <a:alpha val="8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77056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2704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EF4444">
              <a:alpha val="8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8352" y="254203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54203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06B6D4">
              <a:alpha val="8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A855F7">
              <a:alpha val="8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77056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32704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F43F5E">
              <a:alpha val="8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88352" y="3182112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475569">
              <a:alpha val="8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3182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Session  •  Visual-First  •  Worked Examples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Sequences Need Special Networks?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neural networks treat every input independently — but language is fundamentally sequential.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" y="1143000"/>
            <a:ext cx="4133088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43000"/>
            <a:ext cx="54864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44168"/>
            <a:ext cx="475488" cy="475488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1325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94767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went to the bank" — which 'bank'?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context from earlier words.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18304" y="1143000"/>
            <a:ext cx="4133088" cy="1783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14300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1344168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13258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Input Size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194767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vary from 3 to 300+ words.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input can't handle this.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" y="3108960"/>
            <a:ext cx="4133088" cy="1783080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108960"/>
            <a:ext cx="54864" cy="1783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10128"/>
            <a:ext cx="475488" cy="475488"/>
          </a:xfrm>
          <a:prstGeom prst="ellipse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60704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Ignored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" y="391363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ate mouse" ≠ "Mouse ate cat".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nets ignore word order.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3108960"/>
            <a:ext cx="4133088" cy="178308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3108960"/>
            <a:ext cx="54864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3310128"/>
            <a:ext cx="475488" cy="475488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2918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Dependencies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01184" y="3913632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trophy didn't fit in the suitcase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was too big." — what is IT?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6366F1">
              <a:alpha val="5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(RNN)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read sequences — one word at a time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— Architecture &amp; Core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loops: it reads one word, updates its memory, then reads the next — carrying context forward.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33856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81328" y="1225296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 acts as the network's working memory — updated at each step.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01952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81328" y="1993392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 repeated: read xₜ → update hₜ → produce yₜ → move to t+1.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7004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614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81328" y="2761488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hₜ feeds BACK into the same cell at the next time step.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38144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38144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81328" y="3529584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softmax(Wy·hₜ) — can be produced at every step or just the last.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206240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481328" y="4297680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generation, sentiment, translation, speech-to-text, time-series.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8046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Unrolled Over Time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5955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7103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588873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955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7103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588873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955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82512" y="3529584"/>
            <a:ext cx="274320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6510528" y="3438144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5683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6831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0800000">
            <a:off x="698601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6831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698601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5683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79792" y="3529584"/>
            <a:ext cx="274320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7607808" y="3438144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4112" y="4206240"/>
            <a:ext cx="822960" cy="329184"/>
          </a:xfrm>
          <a:prstGeom prst="roundRect">
            <a:avLst>
              <a:gd name="adj" fmla="val 1944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42062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"NLP"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65592" y="3822192"/>
            <a:ext cx="0" cy="38404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8083296" y="40782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329184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32918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65592" y="2871216"/>
            <a:ext cx="0" cy="42062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8083296" y="316382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54112" y="2359152"/>
            <a:ext cx="822960" cy="457200"/>
          </a:xfrm>
          <a:prstGeom prst="roundRect">
            <a:avLst>
              <a:gd name="adj" fmla="val 14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4112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0" y="4572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(words)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486400" y="3090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486400" y="2157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303520" y="1097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tanh(Wh·hₜ₋₁ + Wx·xₜ + b)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303520" y="109728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0" y="1097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tanh(Wh·hₜ₋₁ + Wx·xₜ + b)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 — The Key Trick Behind RNNs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RNN, the SAME weights Wx, Wh, Wy are used at EVERY time step — this is called weight sharing.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3703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Weight Sharing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68249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824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uses Wx¹, Wh¹, Wy¹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1214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uses Wx², Wh², Wy²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560320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6032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uses Wx³, Wh³, Wy³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99232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9923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...10 words = 30 separate weight matrices!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3814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O(T × params) — explodes with sequence length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" y="387705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generalize: word "cat" at position 3 vs position 7 treated differently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15568"/>
            <a:ext cx="4114800" cy="3703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Weight Sharing  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56048" y="168249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6824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share SAME Wx, Wh, Wy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2121408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1214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words = still just 3 weight matrices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56048" y="2560320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56032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O(1) regardless of sequence length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56048" y="2999232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999232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'cat' at position 3 = same weights as position 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56048" y="3438144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43814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what a word MEANS, not where it appears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56048" y="3877056"/>
            <a:ext cx="219456" cy="21945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processing variable-length sequences efficiently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15968" y="256032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4892040"/>
            <a:ext cx="859536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920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Weight sharing = same lens applied at every position. Like reading every word with the same understanding, not learning a new reading skill per position.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(BPTT)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 = standard backprop applied to the UNROLLED RNN — gradients flow backward through each time step.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15214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15214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241401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316382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316382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442569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"NLP"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517550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5780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517550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43600" y="3346704"/>
            <a:ext cx="64008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6437376" y="3255264"/>
            <a:ext cx="146304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4069080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"!"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69480" y="3749040"/>
            <a:ext cx="0" cy="32004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7187184" y="3941064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999232"/>
            <a:ext cx="1371600" cy="694944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99923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69480" y="2670048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7187184" y="2871216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2176272"/>
            <a:ext cx="1371600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21762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92608" y="188366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 PASS (BPTT)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6200000">
            <a:off x="592531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3192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6200000">
            <a:off x="391363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3346704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6200000">
            <a:off x="1901952" y="3264408"/>
            <a:ext cx="137160" cy="164592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0" y="129844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0" y="1298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ΣLᵢ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0" y="2176272"/>
            <a:ext cx="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47365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41248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the RNN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65760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time step as a separate layer — like unfolding the loop into a chain of cells.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36976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28416" y="4736592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28416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803904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at Each Step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328416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Lₜ measured at every step (or just the last). Total loss = sum of all step losses.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99632" y="4608576"/>
            <a:ext cx="278892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291072" y="4736592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91072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766560" y="4626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 Backwards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291072" y="49743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dL/dWh requires multiplying Wh repeatedly — leads to vanishing or exploding gradients over long sequences.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— Why RNNs Forget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BPTT, gradients are multiplied by Wh at every step. If ||Wh|| &lt; 1, they shrink to near-zero.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68680" cy="219456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43584" y="1693469"/>
            <a:ext cx="868680" cy="1580083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43743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43584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12848" y="2176272"/>
            <a:ext cx="868680" cy="109728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19202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12848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2549347"/>
            <a:ext cx="868680" cy="724205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2293315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51376" y="2790749"/>
            <a:ext cx="868680" cy="482803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253471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51376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51376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3010205"/>
            <a:ext cx="868680" cy="263347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754173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9904" y="3163824"/>
            <a:ext cx="868680" cy="10972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9077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9904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3218688"/>
            <a:ext cx="868680" cy="54864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9626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59168" y="3310128"/>
            <a:ext cx="868680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3101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 rot="16200000">
            <a:off x="36576" y="1188720"/>
            <a:ext cx="914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Strength (%)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1188720"/>
            <a:ext cx="0" cy="20848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273552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Gradient shrinks — early words lose influence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3931920" cy="12070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749040"/>
            <a:ext cx="54864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38912" y="4096512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man who the woman loved was TALL"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step 8, RNN has almost no signal from 'man' (step 1).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learn: 'tall' describes 'man', not 'woman'.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43400" y="3749040"/>
            <a:ext cx="4526280" cy="12070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43400" y="3749040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992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07992" y="4096512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LSTM / GRU: additive cell state keeps gradient alive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Gradient Clipping: cap gradient norm (e.g. max=5)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Truncated BPTT: only backprop through last k steps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 — When Gradients Go Wild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||Wh|| &gt; 1, gradients MULTIPLY at each step — growing exponentially. Weights blow up → NaN → training crash.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3630918"/>
            <a:ext cx="868680" cy="44970"/>
          </a:xfrm>
          <a:prstGeom prst="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748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53896" y="3594941"/>
            <a:ext cx="868680" cy="80947"/>
          </a:xfrm>
          <a:prstGeom prst="rect">
            <a:avLst/>
          </a:prstGeom>
          <a:solidFill>
            <a:srgbClr val="22C55E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3338909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53896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96312" y="3531982"/>
            <a:ext cx="868680" cy="14390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327595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312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38728" y="3415059"/>
            <a:ext cx="868680" cy="260829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315902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38728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81144" y="3203698"/>
            <a:ext cx="868680" cy="472190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94766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81144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2825946"/>
            <a:ext cx="868680" cy="849942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56991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65976" y="2146891"/>
            <a:ext cx="868680" cy="1528997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1890859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65976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08392" y="932688"/>
            <a:ext cx="868680" cy="2743200"/>
          </a:xfrm>
          <a:prstGeom prst="rect">
            <a:avLst/>
          </a:prstGeom>
          <a:solidFill>
            <a:srgbClr val="F43F5E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6766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08392" y="3712464"/>
            <a:ext cx="868680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08392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675888"/>
            <a:ext cx="8686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859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 ↑ explodes across time steps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2651760" cy="950976"/>
          </a:xfrm>
          <a:prstGeom prst="rect">
            <a:avLst/>
          </a:prstGeom>
          <a:solidFill>
            <a:srgbClr val="FFF1F2"/>
          </a:solidFill>
          <a:ln w="12700">
            <a:solidFill>
              <a:srgbClr val="FFE4E6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133088"/>
            <a:ext cx="54864" cy="9509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" y="44622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update by huge amount.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oscillates wildly, never converges.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→ NaN within a few batches.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90672" y="4133088"/>
            <a:ext cx="2651760" cy="95097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090672" y="4133088"/>
            <a:ext cx="54864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5264" y="4169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55264" y="44622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= product of T Jacobians.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&gt; 1 → exponential growth.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unrolling = worse explosion.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07024" y="4133088"/>
            <a:ext cx="2944368" cy="95097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07024" y="4133088"/>
            <a:ext cx="54864" cy="9509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71616" y="4169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Gradient Clipping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71616" y="44622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||g|| &gt; threshold: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 = g × (threshold / ||g||)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highly effective. Used universally.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Worked Example: "I love cats" → Sentiment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how hidden state evolves step-by-step as the RNN reads each word: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73352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591056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73352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591056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[0.1, 0.0, 0.2]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h₀=0 + embed(I)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07792" y="2468880"/>
            <a:ext cx="384048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145536" y="2377440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286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26280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4443984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9856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4443984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9856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[0.6, 0.8, 0.1]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'love' adds positive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468880"/>
            <a:ext cx="384048" cy="0"/>
          </a:xfrm>
          <a:prstGeom prst="line">
            <a:avLst/>
          </a:prstGeom>
          <a:noFill/>
          <a:ln w="22860">
            <a:solidFill>
              <a:srgbClr val="6366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5998464" y="2377440"/>
            <a:ext cx="146304" cy="182880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286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4768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10528" y="1335024"/>
            <a:ext cx="1737360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1335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"cats"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379208" y="1755648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296912" y="1975104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72784" y="2103120"/>
            <a:ext cx="2212848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210312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tanh(Wx·xₜ + Wh·hₜ₋₁)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79208" y="2834640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7296912" y="3035808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72784" y="3163824"/>
            <a:ext cx="2212848" cy="493776"/>
          </a:xfrm>
          <a:prstGeom prst="roundRect">
            <a:avLst>
              <a:gd name="adj" fmla="val 1296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3163824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[0.9, 0.7, 0.6]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44768" y="37124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carries sentiment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51192" y="3657600"/>
            <a:ext cx="0" cy="420624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7168896" y="3950208"/>
            <a:ext cx="164592" cy="146304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1148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Softmax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23760" y="4572000"/>
            <a:ext cx="0" cy="237744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7141464" y="4681728"/>
            <a:ext cx="164592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4846320"/>
            <a:ext cx="2377440" cy="347472"/>
          </a:xfrm>
          <a:prstGeom prst="roundRect">
            <a:avLst>
              <a:gd name="adj" fmla="val 1842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4846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😊  (87%)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(LSTM)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cells that remember, forget and output selectively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Gate? The Core Idea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is a sigmoid-activated layer that outputs values between 0 and 1 — acting as a learnable ON/OFF valve.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Function: σ(x) = 1/(1+e⁻ˣ)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517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3291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792224"/>
            <a:ext cx="0" cy="8229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74036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516429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392985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203704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014423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890979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66420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1115568"/>
            <a:ext cx="443484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115568"/>
            <a:ext cx="914400" cy="749808"/>
          </a:xfrm>
          <a:prstGeom prst="roundRect">
            <a:avLst>
              <a:gd name="adj" fmla="val 731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111556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1704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49961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information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1993392"/>
            <a:ext cx="4434840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1993392"/>
            <a:ext cx="914400" cy="749808"/>
          </a:xfrm>
          <a:prstGeom prst="roundRect">
            <a:avLst>
              <a:gd name="adj" fmla="val 73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199339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048256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OPEN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37744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half through — partial 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2871216"/>
            <a:ext cx="443484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2871216"/>
            <a:ext cx="914400" cy="749808"/>
          </a:xfrm>
          <a:prstGeom prst="roundRect">
            <a:avLst>
              <a:gd name="adj" fmla="val 731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287121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29260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25526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all information through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84632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4846320"/>
            <a:ext cx="8339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Think of a gate like a dimmer switch — fully off (forget everything), fully on (remember everything), or anywhere in between. The network LEARNS the right setting.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Gates in LSTM — All 4 Components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= 3 gates (Forget, Input, Output) + 1 candidate cell — all computed from same inputs [hₜ₋₁, xₜ]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7922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33856"/>
            <a:ext cx="384048" cy="384048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704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(f)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5910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σ(Wf·[hₜ₋₁, xₜ] + bf)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8366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% of previous cell state cₜ₋₁ to ERASE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delete all memory | 1 = keep all memory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6888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book? Forget the plot of the last 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1115568"/>
            <a:ext cx="4114800" cy="17922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115568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1133856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11704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 (i)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15910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σ(Wi·[hₜ₋₁, xₜ] + bi)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188366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NEW candidate info to WRITE into cell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9744" y="219456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write nothing | 1 = write fully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9744" y="246888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in hand — choosing how much of the new draft to record.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4114800" cy="179222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54096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1089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GATE (c̃)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c̃ₜ = tanh(Wc·[hₜ₋₁, xₜ] + bc)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82219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DRAFT of new content (−1 to 1, uses tanh not sigmoid)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13308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true gate — generates candidate values to write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407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rough draft — filtered by input gate before saving.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054096"/>
            <a:ext cx="4114800" cy="1792224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0016" y="3054096"/>
            <a:ext cx="2194560" cy="420624"/>
          </a:xfrm>
          <a:prstGeom prst="roundRect">
            <a:avLst>
              <a:gd name="adj" fmla="val 1087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307238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66944" y="31089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(o)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9744" y="3529584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σ(Wo·[hₜ₋₁, xₜ] + bo) → hₜ = oₜ ⊙ tanh(cₜ)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9744" y="3822192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cell state to EXPOSE as hidden state hₜ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9744" y="413308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hide memory | 1 = expose fully as output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9744" y="4407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glasses — you have notes, but choose what to say aloud.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The Cell State: Memory Highway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cₜ flows through time with minimal modification — gates gently update it. This is why LSTM solves vanishing gradients.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512064"/>
          </a:xfrm>
          <a:prstGeom prst="rect">
            <a:avLst/>
          </a:prstGeom>
          <a:solidFill>
            <a:srgbClr val="FEF9C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 cₜ  (Long-term memory — flows with minimal modification)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cₜ₋₁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77977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fₜ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(Forget)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51713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iₜ·c̃ₜ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258568"/>
            <a:ext cx="8686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254496" y="2167128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901952"/>
            <a:ext cx="1463040" cy="713232"/>
          </a:xfrm>
          <a:prstGeom prst="roundRect">
            <a:avLst>
              <a:gd name="adj" fmla="val 897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9019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615184"/>
            <a:ext cx="0" cy="347472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455664" y="2834640"/>
            <a:ext cx="164592" cy="146304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3255264"/>
            <a:ext cx="2468880" cy="512064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25526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⊙ tanh(cₜ)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8595360" cy="95097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95344"/>
            <a:ext cx="54864" cy="9509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Cell State Solves Vanishing Gradients: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  gradient = W × W × W × W … (multiplicative chain) → 0 or 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 gradient = f₁ + f₂ + f₃ + … (additive path through cₜ) → stable, non-zero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93776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937760"/>
            <a:ext cx="8339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additive update cₜ = fₜ ⊙ cₜ₋₁ + iₜ ⊙ c̃ₜ lets gradients flow back without shrinking — unlike RNN's multiplicative hidden state update.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Worked Example: "I have not eaten today" → Sentiment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challenge: the word 'not' must cancel 'eaten' — needs long-range memory. LSTM handles this.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969264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969264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f=1.0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o=expose all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person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83080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0824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0824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52344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2670048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20824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0824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52344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2670048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20824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93976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93976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o=moderate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20824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verb — minor update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83864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1608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53128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4370832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1608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53128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800000">
            <a:off x="4370832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1608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94760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94760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o=partial expose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21608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— write 'not' flag strongly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84648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22392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"eaten"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53912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6071616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22392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53912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800000">
            <a:off x="6071616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22392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95544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95544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i=0.7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495544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o=limited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22392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signal but gated by 'not'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85432" y="1920240"/>
            <a:ext cx="237744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914400" y="1828800"/>
            <a:ext cx="146304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23176" y="1060704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23176" y="1060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"today"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854696" y="1408176"/>
            <a:ext cx="0" cy="2560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10800000">
            <a:off x="7772400" y="1536192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23176" y="166420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23176" y="1664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854696" y="2194560"/>
            <a:ext cx="0" cy="21945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0800000">
            <a:off x="7772400" y="22860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23176" y="2414016"/>
            <a:ext cx="146304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96328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196328" y="27249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i=0.3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196328" y="29809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o=output negative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123176" y="35844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context — small update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657600" y="4169664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0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😞  (91%)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2286000" y="4608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cell state carries 'not' negation — output gate reveals NEGATIVE sentiment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Step-by-Step Algorithm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= σ(Wf·[hₜ₋₁, xₜ] + bf)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% of cₜ₋₁ to erase.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0→1 per memory slot.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44952" y="182880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914400" y="173736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28416" y="102412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03904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= σ(Wi·[hₜ₋₁, xₜ] + bi)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new info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into cell 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07608" y="182880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914400" y="173736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896112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0241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102412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148132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c̃ₜ = tanh(Wc·[hₜ₋₁, xₜ] + bc)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draft of new content.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−1 to +1.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5409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Cell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⊙ cₜ₋₁ + iₜ ⊙ c̃ₜ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kept memory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candidate.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44952" y="3858768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914400" y="3767328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28416" y="305409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03904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28416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oₜ = σ(Wo·[hₜ₋₁, xₜ] + bo)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part of cₜ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expose as hₜ.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07608" y="3858768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914400" y="3767328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2926080"/>
            <a:ext cx="2788920" cy="1865376"/>
          </a:xfrm>
          <a:prstGeom prst="rect">
            <a:avLst/>
          </a:prstGeom>
          <a:solidFill>
            <a:srgbClr val="1A2B3C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1072" y="305409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66560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91072" y="3511296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⊙ tanh(cₜ)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hidden state = gated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cell memory.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78240" y="2761488"/>
            <a:ext cx="0" cy="31089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A855F7">
              <a:alpha val="5000"/>
            </a:srgbClr>
          </a:solidFill>
          <a:ln w="12700">
            <a:solidFill>
              <a:srgbClr val="A855F7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sequences forward AND backward for full context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— Why One Direction Isn't Enough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"I saw her duck" — 'duck' means bird or crouch? You need future words to disambiguate.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RNNs: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55648" y="1207008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RNN reads left→right.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backward RNN reads right→left simultaneously.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55648" y="1975104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position t: h→ₜ has past context, h←ₜ has future context.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Output: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55648" y="2743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ĥₜ = [h→ₜ ; h←ₜ] — double width, contains both directions.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Tags: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55648" y="3511296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word's representation informed by its ENTIRE sentence context.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Gen: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55648" y="42793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full sequence upfront — can't be used for autoregressive generation.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 on "I saw her duck"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21808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5632704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21808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21808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5632704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1808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5632704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6108192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47688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0800000">
            <a:off x="6565392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54496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4496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47688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6565392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54496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47688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800000">
            <a:off x="6565392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7040880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87184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7184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7498080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87184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87184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87184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7184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0376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0800000">
            <a:off x="7498080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87184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87184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580376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10800000">
            <a:off x="7498080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73568" y="3511296"/>
            <a:ext cx="146304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400000">
            <a:off x="7973568" y="3419856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19872" y="4224528"/>
            <a:ext cx="786384" cy="310896"/>
          </a:xfrm>
          <a:prstGeom prst="roundRect">
            <a:avLst>
              <a:gd name="adj" fmla="val 2058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19872" y="422452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513064" y="3913632"/>
            <a:ext cx="0" cy="310896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10800000">
            <a:off x="8430768" y="40965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19872" y="3291840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19872" y="3291840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119872" y="2395728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19872" y="2395728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513064" y="2743200"/>
            <a:ext cx="0" cy="56692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10800000">
            <a:off x="8430768" y="31821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19872" y="1792224"/>
            <a:ext cx="786384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9872" y="1792224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ĥ4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513064" y="2231136"/>
            <a:ext cx="0" cy="16459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10800000">
            <a:off x="8430768" y="226771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73568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16200000">
            <a:off x="7973568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40880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6200000">
            <a:off x="7040880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08192" y="2615184"/>
            <a:ext cx="146304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6200000">
            <a:off x="6108192" y="253288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21808" y="3090672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Forward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321808" y="219456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321808" y="159105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ĥ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 Worked Example: "I saw her duck" → POS Tagging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Label each word's part of speech. 'duck' = noun or verb? Only context from BOTH sides tells 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27048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1444752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h→₁: pronoun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14016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2450592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h←₁: sent 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27048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1444752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ĥ₁: PRON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35608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353312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71216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1216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"saw"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66744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3584448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96896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6896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h→₂: verb ctx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53712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4590288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96896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96896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h←₂: ← duck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96896" y="2523744"/>
            <a:ext cx="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2414016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6744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3584448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60904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ĥ₂: VERB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75304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0800000">
            <a:off x="3493008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60904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10912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"her"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806440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5724144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36592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h→₃: pron obj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93408" y="1920240"/>
            <a:ext cx="182880" cy="0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6729984" y="1828800"/>
            <a:ext cx="146304" cy="182880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36592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h←₃: ← duck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36592" y="2523744"/>
            <a:ext cx="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6200000">
            <a:off x="4553712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5724144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ĥ₃: PRON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15000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5632704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PRP$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50608" y="969264"/>
            <a:ext cx="1591056" cy="384048"/>
          </a:xfrm>
          <a:prstGeom prst="roundRect">
            <a:avLst>
              <a:gd name="adj" fmla="val 1666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0608" y="96926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"duck"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946136" y="1353312"/>
            <a:ext cx="0" cy="347472"/>
          </a:xfrm>
          <a:prstGeom prst="line">
            <a:avLst/>
          </a:prstGeom>
          <a:noFill/>
          <a:ln w="22860">
            <a:solidFill>
              <a:srgbClr val="A855F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0">
            <a:off x="7863840" y="1572768"/>
            <a:ext cx="164592" cy="146304"/>
          </a:xfrm>
          <a:prstGeom prst="triangl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76288" y="1700784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76288" y="17007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h→₄: noun?verb?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76288" y="2304288"/>
            <a:ext cx="1956816" cy="438912"/>
          </a:xfrm>
          <a:prstGeom prst="roundRect">
            <a:avLst>
              <a:gd name="adj" fmla="val 14583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76288" y="230428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h←₄: sentence end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76288" y="2523744"/>
            <a:ext cx="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6200000">
            <a:off x="6693408" y="2441448"/>
            <a:ext cx="118872" cy="164592"/>
          </a:xfrm>
          <a:prstGeom prst="triangl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46136" y="2743200"/>
            <a:ext cx="0" cy="329184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0800000">
            <a:off x="7863840" y="2944368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40296" y="3072384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0296" y="30723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ĥ₄: NOUN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854696" y="3511296"/>
            <a:ext cx="0" cy="347472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10800000">
            <a:off x="7772400" y="3730752"/>
            <a:ext cx="164592" cy="146304"/>
          </a:xfrm>
          <a:prstGeom prst="triangl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0296" y="3858768"/>
            <a:ext cx="1828800" cy="438912"/>
          </a:xfrm>
          <a:prstGeom prst="roundRect">
            <a:avLst>
              <a:gd name="adj" fmla="val 14583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0296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842248" y="37673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NOUN (context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both sides!)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14400" y="4407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backward pass sees 'saw her DUCK' — enough to know it's a noun, not a verb.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dense word vectors from local context windows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Core Idea: Words as Points in Space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word to a dense vector so that words with similar meaning are close in vector space.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Hypothesis: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87168" y="120700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shall know a word by the company it keeps" — similar contexts → similar meanings.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97510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→ 100–300 dimensional float vector. Similar words → nearby vectors.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Arithmetic: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87168" y="27432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vec(King) − vec(Man) + vec(Woman) ≈ vec(Queen). Geometry encodes semantics.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Co-occurrence: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351129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predicting which words appear near each other in a sliding window.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87168" y="42793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CBOW: context → center word. Skip-Gram: center word → context words.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Vectors in 2D Space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30368" y="1097280"/>
            <a:ext cx="3749040" cy="3858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847088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810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9168" y="184708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810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2852928"/>
            <a:ext cx="146304" cy="14630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2852928"/>
            <a:ext cx="146304" cy="14630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90688" y="39502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39136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39328" y="34015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3364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04688" y="41330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4096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61888" y="35844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5478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91072" y="1993392"/>
            <a:ext cx="841248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6291072" y="2999232"/>
            <a:ext cx="841248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6291072" y="1993392"/>
            <a:ext cx="0" cy="10058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ysDot"/>
          </a:ln>
        </p:spPr>
      </p:sp>
      <p:sp>
        <p:nvSpPr>
          <p:cNvPr id="47" name="Shape 45"/>
          <p:cNvSpPr/>
          <p:nvPr/>
        </p:nvSpPr>
        <p:spPr>
          <a:xfrm>
            <a:off x="7205472" y="1993392"/>
            <a:ext cx="0" cy="1005840"/>
          </a:xfrm>
          <a:prstGeom prst="line">
            <a:avLst/>
          </a:prstGeom>
          <a:noFill/>
          <a:ln w="15240">
            <a:solidFill>
              <a:srgbClr val="8B5CF6"/>
            </a:solidFill>
            <a:prstDash val="sysDot"/>
          </a:ln>
        </p:spPr>
      </p:sp>
      <p:sp>
        <p:nvSpPr>
          <p:cNvPr id="48" name="Text 46"/>
          <p:cNvSpPr/>
          <p:nvPr/>
        </p:nvSpPr>
        <p:spPr>
          <a:xfrm>
            <a:off x="7315200" y="2194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King−Man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+Woman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≈Queen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 CBOW vs Skip-Gram — Two Architectures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learn the same vectors but with opposite prediction tasks. Skip-Gram is better for rare words.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96512" cy="37307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409651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 — Continuous Bag of Words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CENTER word from CONTEXT 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9568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956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1396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2962656" y="20482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4140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5968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2962656" y="25054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8712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71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[?]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3284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5112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962656" y="34198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3785616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785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3968496"/>
            <a:ext cx="274320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2962656" y="3877056"/>
            <a:ext cx="146304" cy="18288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2779776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7797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2452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Faster training on large corpora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frequent words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 on rare words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98848" y="1115568"/>
            <a:ext cx="4370832" cy="3730752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98848" y="1115568"/>
            <a:ext cx="4370832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1115568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CONTEXT words from CENTER word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2084832"/>
            <a:ext cx="1280160" cy="402336"/>
          </a:xfrm>
          <a:prstGeom prst="roundRect">
            <a:avLst>
              <a:gd name="adj" fmla="val 15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084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0" y="190195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190195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6640" y="245059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245059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6640" y="299923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99923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"on"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7260336" y="2194560"/>
            <a:ext cx="146304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3547872"/>
            <a:ext cx="1298448" cy="384048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54787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"mat"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40880" y="2286000"/>
            <a:ext cx="0" cy="8229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224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Better for rare words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Captures richer semantics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(multiple outputs per word)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Worked Example: Skip-Gram on "The cat sat on the mat"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= 2. Center word = 'sat'. Skip-Gram predicts: The, cat, on, mat.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10512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36976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16368" y="1078992"/>
            <a:ext cx="1261872" cy="420624"/>
          </a:xfrm>
          <a:prstGeom prst="roundRect">
            <a:avLst>
              <a:gd name="adj" fmla="val 15217"/>
            </a:avLst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0789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10512" y="15361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window of 2 →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1828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Training Pairs (center, context):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The)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8024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cat)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36008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on)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93992" y="2121408"/>
            <a:ext cx="1975104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2121408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 → mat)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9077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'sat'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V-dim vector, 1 at index of 'sat', 0 elsewhere. V = vocab size.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44952" y="338328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914400" y="329184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18688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290779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85616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embedding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W (V×300): get 300-dim embedding vector for 'sat'.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07608" y="338328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914400" y="329184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281635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72784" y="29077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48272" y="29077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context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72784" y="329184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W' (300×V) + softmax → probability over all vocab words.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41879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22960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47472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between predicted probs and actual context words (The, cat, on, mat).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44952" y="466344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400000">
            <a:off x="914400" y="457200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18688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10128" y="4187952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785616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Sampling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10128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update weights for 4 positive + ~5 negative random words — not full vocab.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07608" y="4663440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5400000">
            <a:off x="914400" y="4572000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4096512"/>
            <a:ext cx="2788920" cy="1133856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4187952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2784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748272" y="4187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+ Update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272784" y="457200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Backprop, update W and W'. Repeat for all (center, context) pairs in corpus.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778240" y="3950208"/>
            <a:ext cx="0" cy="329184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43F5E">
              <a:alpha val="9000"/>
            </a:srgbClr>
          </a:solidFill>
          <a:ln w="12700">
            <a:solidFill>
              <a:srgbClr val="F43F5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Vectors — corpus-wide statistics meet local context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— Global Co-occurrence Vectors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uses local windows. GloVe uses the ENTIRE corpus co-occurrence matrix — global statistics.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Matrix: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120700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matrix X where Xᵢⱼ = #times word j appears near word i across entire corpus.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Log-Bilinear Model: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19751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vectors so that wᵢᵀw̃ⱼ + bᵢ + b̃ⱼ ≈ log(Xᵢⱼ) — vectors encode global stats.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95728" y="274320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f(Xᵢⱼ) downweights very common co-occurrences ('the', 'a') so they don't dominate.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Global+Local: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95728" y="351129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Word2Vec (window only), GloVe uses whole-corpus statistics — richer semantics.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87952"/>
            <a:ext cx="4846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428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Vectors: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95728" y="427939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offers 6B, 42B, 840B token pretrained embeddings (50, 100, 200, 300 dims).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822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Snippet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21424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71232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21040" y="1115568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11155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21808" y="1517904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71616" y="1517904"/>
            <a:ext cx="749808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1424" y="1517904"/>
            <a:ext cx="749808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71232" y="1517904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21040" y="1517904"/>
            <a:ext cx="74980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1517904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21808" y="1920240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71616" y="1920240"/>
            <a:ext cx="749808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21424" y="1920240"/>
            <a:ext cx="749808" cy="402336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571232" y="1920240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21040" y="1920240"/>
            <a:ext cx="749808" cy="402336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192024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321808" y="2322576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71616" y="2322576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71616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21424" y="2322576"/>
            <a:ext cx="749808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1424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571232" y="2322576"/>
            <a:ext cx="749808" cy="402336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321040" y="2322576"/>
            <a:ext cx="749808" cy="402336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0" y="2322576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321808" y="2724912"/>
            <a:ext cx="749808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71616" y="2724912"/>
            <a:ext cx="74980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71616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821424" y="2724912"/>
            <a:ext cx="749808" cy="402336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7571232" y="2724912"/>
            <a:ext cx="749808" cy="402336"/>
          </a:xfrm>
          <a:prstGeom prst="rect">
            <a:avLst/>
          </a:prstGeom>
          <a:solidFill>
            <a:srgbClr val="FEF9C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321040" y="2724912"/>
            <a:ext cx="749808" cy="402336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21040" y="27249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321808" y="2852928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21808" y="28529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Σᵢⱼ f(Xᵢⱼ)(wᵢᵀw̃ⱼ + bᵢ + b̃ⱼ − log Xᵢⱼ)²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321808" y="35295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objective: minimize weighted squared error between dot product and log co-occurrence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Worked Example: ice &amp; steam co-occurrences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words that co-occur together in the same contexts should have similar vector representations.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F43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52144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Co-occ Matrix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full corpus with window k=5.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X(ice,solid)=1.7, X(steam,solid)=0.0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tells us 'solid' relates to 'ice', not 'steam'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44952" y="190195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914400" y="181051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28416" y="11521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3904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Weight f(Xᵢⱼ)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f(x)=(x/100)^0.75 if x&lt;100, else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Downweight very frequent pairs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('the','a') so they don't dominate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7608" y="190195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914400" y="181051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02412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1152144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Vectors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155448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 wᵢ and w̃ⱼ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 + context vectors)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bias terms bᵢ, b̃ⱼ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Objective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 f(Xᵢⱼ)(wᵢᵀw̃ⱼ + bᵢ + b̃ⱼ − log Xᵢⱼ)²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dot product ≈ log co-occurrence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this difference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44952" y="382219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914400" y="373075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28416" y="3072384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03904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SGD/Adagrad Update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28416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∂J/∂wᵢ, ∂J/∂w̃ⱼ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vectors to reduce 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all (i,j) pairs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07608" y="3822192"/>
            <a:ext cx="173736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914400" y="3730752"/>
            <a:ext cx="146304" cy="182880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1344" y="2944368"/>
            <a:ext cx="2788920" cy="1755648"/>
          </a:xfrm>
          <a:prstGeom prst="rect">
            <a:avLst/>
          </a:prstGeom>
          <a:solidFill>
            <a:srgbClr val="1A2B3C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1072" y="30723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307238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Embedding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91072" y="3474720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(wᵢ + w̃ᵢ)/2 as final vector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similar context → similar vector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vec(ice)≈vec(cold), vec(steam)≈vec(hot)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778240" y="2779776"/>
            <a:ext cx="0" cy="34747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8695944" y="914400"/>
            <a:ext cx="164592" cy="146304"/>
          </a:xfrm>
          <a:prstGeom prst="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4F46E5">
              <a:alpha val="9000"/>
            </a:srgbClr>
          </a:solidFill>
          <a:ln w="12700">
            <a:solidFill>
              <a:srgbClr val="4F46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4F46E5">
              <a:alpha val="5000"/>
            </a:srgbClr>
          </a:solidFill>
          <a:ln w="12700">
            <a:solidFill>
              <a:srgbClr val="4F46E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GRU vs LSTM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18288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pros, cons, complexity trade-offs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Gated Recurrent Unit (LSTM Simplified)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merges the forget &amp; input gates into one 'update gate' and removes the cell state — simpler &amp; faster than LSTM.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338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7043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(z)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σ(Wz·[hₜ₋₁, xₜ])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PAST hidden state to keep vs new content.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z=1: keep old memory (like LSTM forget=1, input=0)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z=0: replace entirely with new candidate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115568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11556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1456" y="113385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66944" y="117043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(r)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15727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σ(Wr·[hₜ₋₁, xₜ])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1865376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past state influences new CANDIDATE.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9744" y="2194560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r=0: ignore past completely (start fresh)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r=1: use full past context for candidate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723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(h̃)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511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h̃ₜ = tanh(W·[rₜ⊙hₜ₋₁, xₜ])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38039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hidden state (gated by reset).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4133088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rₜ-filtered portion of past state.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cell state — simpler than LSTM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3054096"/>
            <a:ext cx="411480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0016" y="305409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30723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66944" y="31089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9744" y="35112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(1−zₜ)⊙h̃ₜ + zₜ⊙hₜ₋₁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9744" y="3803904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between old memory and new candidate.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9744" y="4133088"/>
            <a:ext cx="3877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state serves as both memory &amp; output.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 state cₜ — key simplification over LSTM.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vs LSTM vs GRU — Complete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architecture to choose depends on your task, data size, and compute budget.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084832" cy="347472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59152" y="1115568"/>
            <a:ext cx="2048256" cy="347472"/>
          </a:xfrm>
          <a:prstGeom prst="rect">
            <a:avLst/>
          </a:prstGeom>
          <a:solidFill>
            <a:srgbClr val="6366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1155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115568"/>
            <a:ext cx="2468880" cy="347472"/>
          </a:xfrm>
          <a:prstGeom prst="rect">
            <a:avLst/>
          </a:prstGeom>
          <a:solidFill>
            <a:srgbClr val="06B6D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1556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76288" y="1115568"/>
            <a:ext cx="2176272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11556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630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59152" y="1463040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4630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07408" y="146304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6304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gates + cell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76288" y="1463040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463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 (update + reset)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10512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81051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59152" y="1810512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18105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07408" y="1810512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81051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76288" y="1810512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8105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~2/3 of LSTM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157984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5798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59152" y="2157984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21579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407408" y="215798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15798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76288" y="2157984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579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LSTM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2505456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5054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Length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59152" y="2505456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2304" y="250545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(vanishes)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07408" y="2505456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(cell state highway)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76288" y="2505456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50545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Medium-Long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2852928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285292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59152" y="2852928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32304" y="285292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problem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07408" y="285292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85292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cell state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76288" y="2852928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8529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solved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200400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2004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Sequences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59152" y="3200400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32304" y="32004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Sufficient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407408" y="3200400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32004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(slower)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876288" y="3200400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0040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choice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3547872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35478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Sequences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59152" y="3547872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32304" y="35478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407408" y="3547872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35478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performance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876288" y="3547872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0" y="3547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Close to LSTM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74320" y="3895344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389534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359152" y="3895344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32304" y="389534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407408" y="3895344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38953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leveraged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876288" y="3895344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389534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Efficient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4320" y="4242816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424281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359152" y="4242816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32304" y="424281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Less overfitting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407408" y="4242816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80560" y="424281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overfit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876288" y="4242816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49440" y="424281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balance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74320" y="4590288"/>
            <a:ext cx="208483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45902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359152" y="4590288"/>
            <a:ext cx="2048256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323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407408" y="4590288"/>
            <a:ext cx="24688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0" y="45902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gates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876288" y="4590288"/>
            <a:ext cx="2176272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49440" y="45902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LSTM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74320" y="4937760"/>
            <a:ext cx="20848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49377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359152" y="4937760"/>
            <a:ext cx="204825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32304" y="49377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demos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4407408" y="493776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80560" y="49377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QA, captioning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6876288" y="4937760"/>
            <a:ext cx="21762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49440" y="493776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tasks, resource-limited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vs GloVe — When to Use Which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dense word embeddings — they differ in how they learn from the corpus.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194560" cy="365760"/>
          </a:xfrm>
          <a:prstGeom prst="rect">
            <a:avLst/>
          </a:prstGeom>
          <a:solidFill>
            <a:srgbClr val="33415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155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115568"/>
            <a:ext cx="320040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1155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50992" y="1115568"/>
            <a:ext cx="3383280" cy="365760"/>
          </a:xfrm>
          <a:prstGeom prst="rect">
            <a:avLst/>
          </a:prstGeom>
          <a:solidFill>
            <a:srgbClr val="F43F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11155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48132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4813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0592" y="148132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4813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 co-occurrence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50992" y="148132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24144" y="14813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co-occurrence matrix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8470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184708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18470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center/context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50992" y="184708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8470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log co-occ 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21284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21284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Use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221284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22128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corpus sequentially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50992" y="221284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22128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full matrix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257860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57860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0592" y="257860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5786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(streaming)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50992" y="257860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24144" y="25786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(V×V matrix)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294436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9443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Frequency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294436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29443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50992" y="294436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24144" y="29443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via f(Xᵢⱼ)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" y="331012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31012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Tasks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50592" y="331012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331012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(Skip-Gram)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50992" y="331012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24144" y="33101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" y="367588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6758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Corpus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50592" y="367588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23744" y="36758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(no sparse matrix)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50992" y="367588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36758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(sparse Xᵢⱼ)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" y="404164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404164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Corpus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50592" y="404164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40416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50992" y="404164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24144" y="4041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4407408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440740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Available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450592" y="4407408"/>
            <a:ext cx="3200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23744" y="44074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300d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50992" y="4407408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24144" y="44074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6B/42B/840B token sets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4773168"/>
            <a:ext cx="219456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477316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50592" y="4773168"/>
            <a:ext cx="32004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training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50992" y="4773168"/>
            <a:ext cx="338328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24144" y="47731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NLP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19072" y="100584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memory via hidden states. Same weights at every step (weight sharing). BPTT trains it. Fails on long sequences.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581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BPTT: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19072" y="158191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RNN → standard backprop. Gradients multiplied at each step → vanishing (→0) or exploding (→∞).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157984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1579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19072" y="215798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gates: Forget, Input, Candidate, Output. Additive cell state highway keeps gradients alive. Best for long dependencies.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54864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7340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Bi-RNN: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273405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RNNs: forward + backward. Concatenate hidden states. Full sentence context. Not for generation tasks.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3101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19072" y="331012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window-based embeddings. Skip-Gram: center→context. CBOW: context→center. Negative sampling for efficiency.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54864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886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19072" y="3886200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co-occurrence matrix. Weighted log-bilinear regression. Best pretrained embeddings for general NLP.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462272"/>
            <a:ext cx="54864" cy="4754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462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19072" y="446227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2 gates, no cell state, faster. LSTM: more expressive, better on very long sequences. GRU for most practical NLP.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3929</Words>
  <Application>Microsoft Office PowerPoint</Application>
  <PresentationFormat>On-screen Show (16:9)</PresentationFormat>
  <Paragraphs>702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satej raste</cp:lastModifiedBy>
  <cp:revision>2</cp:revision>
  <dcterms:created xsi:type="dcterms:W3CDTF">2026-03-11T13:16:12Z</dcterms:created>
  <dcterms:modified xsi:type="dcterms:W3CDTF">2026-03-13T17:07:58Z</dcterms:modified>
</cp:coreProperties>
</file>